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Merriweather"/>
      <p:regular r:id="rId19"/>
      <p:bold r:id="rId20"/>
      <p:italic r:id="rId21"/>
      <p:boldItalic r:id="rId22"/>
    </p:embeddedFont>
    <p:embeddedFont>
      <p:font typeface="DM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ABB580-84F7-48E4-A895-6EC5075D30F3}">
  <a:tblStyle styleId="{2AABB580-84F7-48E4-A895-6EC5075D30F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.fntdata"/><Relationship Id="rId22" Type="http://schemas.openxmlformats.org/officeDocument/2006/relationships/font" Target="fonts/Merriweather-boldItalic.fntdata"/><Relationship Id="rId21" Type="http://schemas.openxmlformats.org/officeDocument/2006/relationships/font" Target="fonts/Merriweather-italic.fntdata"/><Relationship Id="rId24" Type="http://schemas.openxmlformats.org/officeDocument/2006/relationships/font" Target="fonts/DMSans-bold.fntdata"/><Relationship Id="rId23" Type="http://schemas.openxmlformats.org/officeDocument/2006/relationships/font" Target="fonts/DM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DMSans-boldItalic.fntdata"/><Relationship Id="rId25" Type="http://schemas.openxmlformats.org/officeDocument/2006/relationships/font" Target="fonts/DM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erriweather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Relationship Id="rId10" Type="http://schemas.openxmlformats.org/officeDocument/2006/relationships/image" Target="../media/image20.png"/><Relationship Id="rId9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26.png"/><Relationship Id="rId7" Type="http://schemas.openxmlformats.org/officeDocument/2006/relationships/image" Target="../media/image23.png"/><Relationship Id="rId8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2.png"/><Relationship Id="rId5" Type="http://schemas.openxmlformats.org/officeDocument/2006/relationships/image" Target="../media/image25.png"/><Relationship Id="rId6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460295" y="2232124"/>
            <a:ext cx="11271408" cy="6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Risco Biológico e Aprendizado de Máquina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419475" y="3039814"/>
            <a:ext cx="53530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Kauã Alves Santos | Mateus Vinicius Zebendo Pinto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390775" y="3716089"/>
            <a:ext cx="74104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CEFET/RJ - Campus Nova Friburgo | Disciplina: Técnicas de Aprendizado de Máquina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614612" y="4249489"/>
            <a:ext cx="69627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2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Otimização de Falsos Negativos na Classificação de Cogumelos Agaricus e Lepiota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47800"/>
            <a:ext cx="5334000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86175"/>
            <a:ext cx="5334000" cy="1776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598299"/>
            <a:ext cx="5334000" cy="13049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55245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1. Contexto e Desafio Fundamental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6286500" y="2593413"/>
            <a:ext cx="5334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Objetivo Central: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Encontrar o algoritmo que maximize a </a:t>
            </a: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Revocação (Recall)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penalizando severamente os Falsos Negativos (classificar um tóxico como comestível).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09625" y="1638300"/>
            <a:ext cx="51506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O Risco Biológico Letal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09625" y="2038350"/>
            <a:ext cx="4905375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ingestão acidental de cogumelos venenosos representa uma ameaça crítica à vida humana. O estudo foca na automação rigorosa da identificação para mitigar este risco.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09625" y="3876675"/>
            <a:ext cx="51506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Base de Dados: Mushroom Classification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09625" y="4276725"/>
            <a:ext cx="490537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Criado por Jeffrey Schlimmer (1987), o dataset contém </a:t>
            </a: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8.124 registros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 espécimes "gilled" (lamelados) das famílias </a:t>
            </a: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Agaricus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 </a:t>
            </a: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Lepiota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353175" y="3788800"/>
            <a:ext cx="520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ERRO CRÍTICO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477000" y="3988825"/>
            <a:ext cx="4953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Falso Negativo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477000" y="3519487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Espécime tóxico classificado como inofensivo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3575" r="3566" t="0"/>
          <a:stretch/>
        </p:blipFill>
        <p:spPr>
          <a:xfrm>
            <a:off x="571500" y="1447800"/>
            <a:ext cx="4953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381000"/>
            <a:ext cx="11049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2. Biologia e Anatomia do Cogumelo Lamelado</a:t>
            </a:r>
            <a:endParaRPr b="1" sz="3200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571500" y="1047750"/>
            <a:ext cx="11049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286500" y="1447800"/>
            <a:ext cx="53340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 estudo identifica estruturas morfológicas chave descritas na </a:t>
            </a:r>
            <a:r>
              <a:rPr b="1" lang="en-US" sz="140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Figura 1</a:t>
            </a:r>
            <a:r>
              <a:rPr b="0" lang="en-US"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do artigo para a distinção de toxicidade:</a:t>
            </a:r>
            <a:endParaRPr b="0" sz="14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5715000"/>
            <a:ext cx="11049000" cy="18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Família </a:t>
            </a:r>
            <a:r>
              <a:rPr b="1" i="1" lang="en-US" sz="1200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Lepiota</a:t>
            </a:r>
            <a:r>
              <a:rPr b="0" i="1" lang="en-US" sz="12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 Frequentemente contém amatoxinas letais e apresenta escamas no píleo.</a:t>
            </a:r>
            <a:endParaRPr b="0" i="1" sz="12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18" name="Google Shape;118;p15"/>
          <p:cNvGrpSpPr/>
          <p:nvPr/>
        </p:nvGrpSpPr>
        <p:grpSpPr>
          <a:xfrm>
            <a:off x="6286500" y="2000250"/>
            <a:ext cx="5334000" cy="3429000"/>
            <a:chOff x="6286500" y="2000250"/>
            <a:chExt cx="5334000" cy="3429000"/>
          </a:xfrm>
        </p:grpSpPr>
        <p:sp>
          <p:nvSpPr>
            <p:cNvPr id="119" name="Google Shape;119;p15"/>
            <p:cNvSpPr/>
            <p:nvPr/>
          </p:nvSpPr>
          <p:spPr>
            <a:xfrm>
              <a:off x="6286500" y="2000250"/>
              <a:ext cx="5334000" cy="3429000"/>
            </a:xfrm>
            <a:prstGeom prst="roundRect">
              <a:avLst>
                <a:gd fmla="val 222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6477000" y="2095500"/>
              <a:ext cx="4953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33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en-US" sz="13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b="1" lang="en-US" sz="1300">
                  <a:solidFill>
                    <a:srgbClr val="003366"/>
                  </a:solidFill>
                  <a:latin typeface="DM Sans"/>
                  <a:ea typeface="DM Sans"/>
                  <a:cs typeface="DM Sans"/>
                  <a:sym typeface="DM Sans"/>
                </a:rPr>
                <a:t>Chapéu (Píleo):</a:t>
              </a:r>
              <a:r>
                <a:rPr b="0" lang="en-US" sz="13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 Parte superior; pode apresentar escamas.</a:t>
              </a:r>
              <a:endParaRPr b="0" sz="13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33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en-US" sz="13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b="1" lang="en-US" sz="1300">
                  <a:solidFill>
                    <a:srgbClr val="003366"/>
                  </a:solidFill>
                  <a:latin typeface="DM Sans"/>
                  <a:ea typeface="DM Sans"/>
                  <a:cs typeface="DM Sans"/>
                  <a:sym typeface="DM Sans"/>
                </a:rPr>
                <a:t>Lamelas (Gills):</a:t>
              </a:r>
              <a:r>
                <a:rPr b="0" lang="en-US" sz="13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 Estrutura pregueada sob o píleo onde ficam os esporos.</a:t>
              </a:r>
              <a:endParaRPr b="0" sz="13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33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en-US" sz="13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b="1" lang="en-US" sz="1300">
                  <a:solidFill>
                    <a:srgbClr val="003366"/>
                  </a:solidFill>
                  <a:latin typeface="DM Sans"/>
                  <a:ea typeface="DM Sans"/>
                  <a:cs typeface="DM Sans"/>
                  <a:sym typeface="DM Sans"/>
                </a:rPr>
                <a:t>Anel:</a:t>
              </a:r>
              <a:r>
                <a:rPr b="0" lang="en-US" sz="13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 Resto de véu parcial no estipe após a abertura do píleo.</a:t>
              </a:r>
              <a:endParaRPr b="0" sz="13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33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en-US" sz="13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b="1" lang="en-US" sz="1300">
                  <a:solidFill>
                    <a:srgbClr val="003366"/>
                  </a:solidFill>
                  <a:latin typeface="DM Sans"/>
                  <a:ea typeface="DM Sans"/>
                  <a:cs typeface="DM Sans"/>
                  <a:sym typeface="DM Sans"/>
                </a:rPr>
                <a:t>Estipe (Caule):</a:t>
              </a:r>
              <a:r>
                <a:rPr b="0" lang="en-US" sz="13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 Estrutura de sustentação central.</a:t>
              </a:r>
              <a:endParaRPr b="0" sz="13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33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en-US" sz="13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b="1" lang="en-US" sz="1300">
                  <a:solidFill>
                    <a:srgbClr val="003366"/>
                  </a:solidFill>
                  <a:latin typeface="DM Sans"/>
                  <a:ea typeface="DM Sans"/>
                  <a:cs typeface="DM Sans"/>
                  <a:sym typeface="DM Sans"/>
                </a:rPr>
                <a:t>Volva:</a:t>
              </a:r>
              <a:r>
                <a:rPr b="0" lang="en-US" sz="13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 Resto de véu universal na base do estipe.</a:t>
              </a:r>
              <a:endParaRPr b="0" sz="13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336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0" lang="en-US" sz="13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b="1" lang="en-US" sz="1300">
                  <a:solidFill>
                    <a:srgbClr val="003366"/>
                  </a:solidFill>
                  <a:latin typeface="DM Sans"/>
                  <a:ea typeface="DM Sans"/>
                  <a:cs typeface="DM Sans"/>
                  <a:sym typeface="DM Sans"/>
                </a:rPr>
                <a:t>Micélio:</a:t>
              </a:r>
              <a:r>
                <a:rPr b="0" lang="en-US" sz="1300">
                  <a:solidFill>
                    <a:srgbClr val="334155"/>
                  </a:solidFill>
                  <a:latin typeface="DM Sans"/>
                  <a:ea typeface="DM Sans"/>
                  <a:cs typeface="DM Sans"/>
                  <a:sym typeface="DM Sans"/>
                </a:rPr>
                <a:t> Conjunto de hifas no substrato (corpo vegetativo).</a:t>
              </a:r>
              <a:endParaRPr b="0" sz="13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3355" y="1484550"/>
            <a:ext cx="2618653" cy="3619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3660000" dist="142875">
              <a:srgbClr val="000000">
                <a:alpha val="38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55245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3. Estado da Arte e Discussão Acadêmica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1628775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literatura divide-se entre dados estruturados (tabulares) e visão computacional (imagens):</a:t>
            </a:r>
            <a:endParaRPr/>
          </a:p>
        </p:txBody>
      </p:sp>
      <p:graphicFrame>
        <p:nvGraphicFramePr>
          <p:cNvPr id="130" name="Google Shape;130;p16"/>
          <p:cNvGraphicFramePr/>
          <p:nvPr/>
        </p:nvGraphicFramePr>
        <p:xfrm>
          <a:off x="571500" y="2176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{2AABB580-84F7-48E4-A895-6EC5075D30F3}</a:tableStyleId>
              </a:tblPr>
              <a:tblGrid>
                <a:gridCol w="2807800"/>
                <a:gridCol w="2990100"/>
                <a:gridCol w="5251100"/>
              </a:tblGrid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Estudo / Autor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Foco / Método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Resultado Principal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Wibowo et al. (2018)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DT vs SVM vs Naive Bayes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DT e SVM atingiram 100% de acurácia.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Hamonangan (2021)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Otimização KNN (k=1)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Atingiu 100% de precisão inicial.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Sahu et al. (2024)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Ensemble Learning (AdaBoost)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AdaBoost superior (95,35%) a modelos únicos.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Mathur et al. (2026)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Atenção Analítica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Acurácia de 99,9% com reprodutibilidade determinística.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Chitayae &amp; Sunyoto (2020)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KNN vs Algoritmo CART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CART superior (91,93%) ao KNN (89,61%).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1" name="Google Shape;131;p16"/>
          <p:cNvSpPr txBox="1"/>
          <p:nvPr/>
        </p:nvSpPr>
        <p:spPr>
          <a:xfrm>
            <a:off x="571500" y="4881562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Diferencial deste estudo: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Rompimento com a Acurácia Global; foco exclusivo em </a:t>
            </a: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Risco Zero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na classe tóxica.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71500" y="3019425"/>
            <a:ext cx="28077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3379291" y="3019425"/>
            <a:ext cx="29901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6369397" y="3019425"/>
            <a:ext cx="52511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71500" y="3433762"/>
            <a:ext cx="28077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3379291" y="3433762"/>
            <a:ext cx="29901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6369397" y="3433762"/>
            <a:ext cx="52511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71500" y="3848100"/>
            <a:ext cx="28077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3379291" y="3848100"/>
            <a:ext cx="29901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6369397" y="3848100"/>
            <a:ext cx="52511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71500" y="4262437"/>
            <a:ext cx="28077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3379291" y="4262437"/>
            <a:ext cx="29901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6369397" y="4262437"/>
            <a:ext cx="52511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71500" y="4676775"/>
            <a:ext cx="28077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3379291" y="4676775"/>
            <a:ext cx="29901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6369397" y="4676775"/>
            <a:ext cx="52511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47800"/>
            <a:ext cx="5334000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86175"/>
            <a:ext cx="5334000" cy="1957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447800"/>
            <a:ext cx="5334000" cy="1776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414712"/>
            <a:ext cx="5334000" cy="177641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571500" y="55245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4. Rigor Metodológico: Preparação dos Dados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809625" y="1638300"/>
            <a:ext cx="51506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Tratamento de Dados Ausentes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09625" y="2038350"/>
            <a:ext cx="4905375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variável </a:t>
            </a: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stalk-root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apresentava valores '?'. Optou-se pela imputação da categoria </a:t>
            </a: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"desconhecido"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para que o modelo interprete a ausência como característica preditiva.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09625" y="3876675"/>
            <a:ext cx="51506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Codificação (Encoding)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524625" y="1638300"/>
            <a:ext cx="51506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Vetor de Features Final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524625" y="2038350"/>
            <a:ext cx="490537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dimensionalidade passou de </a:t>
            </a: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22 variáveis originais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para um vetor denso de </a:t>
            </a: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95 features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garantindo independência linear.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524625" y="3605212"/>
            <a:ext cx="51506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Normalização e Prevenção de Leakage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524625" y="4005262"/>
            <a:ext cx="490537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Aplicação de </a:t>
            </a: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Z-score normalization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(média zero, desvio padrão 1). Parâmetros extraídos exclusivamente do treino para evitar </a:t>
            </a: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Data Leakage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933450" y="409336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000125" y="4095750"/>
            <a:ext cx="47148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Label Encoding: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Classe alvo mapeada (Venenoso = 1, Comestível = 0).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933450" y="4636293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000125" y="4638675"/>
            <a:ext cx="471487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One-Hot Encoding: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Conversão de variáveis nominais. Remoção da primeira categoria para evitar a </a:t>
            </a: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Dummy Variable Trap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738687"/>
            <a:ext cx="11049000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24087"/>
            <a:ext cx="358765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02025" y="2224087"/>
            <a:ext cx="3587799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2700" y="2224087"/>
            <a:ext cx="358765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33762"/>
            <a:ext cx="358765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02025" y="3433762"/>
            <a:ext cx="3587799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2700" y="3433762"/>
            <a:ext cx="358765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571500" y="55245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5. </a:t>
            </a:r>
            <a:r>
              <a:rPr b="1" lang="en-US" sz="285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Algoritimos</a:t>
            </a:r>
            <a:r>
              <a:rPr b="1" i="0" lang="en-US" sz="28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 Avaliadas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571500" y="1628775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Foram testados seis paradigmas de aprendizado supervisionado via </a:t>
            </a: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Scikit-Learn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809625" y="5110162"/>
            <a:ext cx="106203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Validação: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Validação Cruzada Estratificada (</a:t>
            </a: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Stratified 5-Fold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 e Busca em Grade (</a:t>
            </a: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GridSearchCV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 focada na maximização da Revocação.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91834" y="2424112"/>
            <a:ext cx="334698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KNN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771525" y="2757487"/>
            <a:ext cx="3187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Distância Euclidiana; Lazy Learner.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4422357" y="2424112"/>
            <a:ext cx="33471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NAIVE BAYES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4502050" y="2757487"/>
            <a:ext cx="318774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Gaussian, Bernoulli e Complement.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8153035" y="2424112"/>
            <a:ext cx="334698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ÁRVORE DE DECISÃO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8232725" y="2757487"/>
            <a:ext cx="3187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Particionamento via Entropia/Gini.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691834" y="3633787"/>
            <a:ext cx="334698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RANDOM FOREST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771525" y="3967162"/>
            <a:ext cx="3187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Ensemble; múltiplas DTs via Bagging.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4422357" y="3633787"/>
            <a:ext cx="33471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SVM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4502050" y="3967162"/>
            <a:ext cx="318774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Kernels Linear, RBF e Sigmoid.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8153035" y="3633787"/>
            <a:ext cx="334698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REDES NEURAIS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8232725" y="3967162"/>
            <a:ext cx="3187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Multi-Layer Perceptron (Backprop).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571500" y="55245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6. Desempenho Global e Configurações Ótimas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571500" y="1628775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Resultados sumarizados para 1.625 instâncias de teste (783 venenosos):</a:t>
            </a:r>
            <a:endParaRPr/>
          </a:p>
        </p:txBody>
      </p:sp>
      <p:graphicFrame>
        <p:nvGraphicFramePr>
          <p:cNvPr id="205" name="Google Shape;205;p19"/>
          <p:cNvGraphicFramePr/>
          <p:nvPr/>
        </p:nvGraphicFramePr>
        <p:xfrm>
          <a:off x="571500" y="2176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{2AABB580-84F7-48E4-A895-6EC5075D30F3}</a:tableStyleId>
              </a:tblPr>
              <a:tblGrid>
                <a:gridCol w="2398650"/>
                <a:gridCol w="3038475"/>
                <a:gridCol w="1410150"/>
                <a:gridCol w="4201725"/>
              </a:tblGrid>
              <a:tr h="41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Algoritmo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Configuração Principal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Acurácia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Matriz de Confusão (VN FP / FN VP)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</a:tr>
              <a:tr h="41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KNN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 = 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99,88%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842 0 / 2 781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Naive Bayes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Gaussian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94,95%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762 80 / 2 781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1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Naive Bayes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Bernoulli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92,86%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834 8 / 108 675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Árvore de Decisão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max_depth = 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100,00%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842 0 / 0 783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1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SVM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kernel = 'sigmoid'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98,58%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835 7 / 16 767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Redes Neurais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hidden_layer_sizes = [10]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99,88%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842 0 / 2 781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06" name="Google Shape;206;p19"/>
          <p:cNvSpPr txBox="1"/>
          <p:nvPr/>
        </p:nvSpPr>
        <p:spPr>
          <a:xfrm>
            <a:off x="571500" y="5248275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Análise Crítica:</a:t>
            </a:r>
            <a:r>
              <a:rPr b="0" i="0" lang="en-US" sz="1200" u="none" cap="none" strike="noStrike">
                <a:solidFill>
                  <a:srgbClr val="991B1B"/>
                </a:solidFill>
                <a:latin typeface="DM Sans"/>
                <a:ea typeface="DM Sans"/>
                <a:cs typeface="DM Sans"/>
                <a:sym typeface="DM Sans"/>
              </a:rPr>
              <a:t> A alta acurácia (98%+) do KNN e MLP oculta 2 Falsos Negativos fatais.</a:t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571500" y="3019425"/>
            <a:ext cx="23986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2970162" y="3019425"/>
            <a:ext cx="3038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6008637" y="3019425"/>
            <a:ext cx="14101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7418784" y="3019425"/>
            <a:ext cx="42017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571500" y="3433762"/>
            <a:ext cx="23986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2970162" y="3433762"/>
            <a:ext cx="3038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6008637" y="3433762"/>
            <a:ext cx="14101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7418784" y="3433762"/>
            <a:ext cx="42017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571500" y="3848100"/>
            <a:ext cx="23986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2970162" y="3848100"/>
            <a:ext cx="3038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6008637" y="3848100"/>
            <a:ext cx="14101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7418784" y="3848100"/>
            <a:ext cx="42017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571500" y="4262437"/>
            <a:ext cx="23986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2970162" y="4262437"/>
            <a:ext cx="3038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6008637" y="4262437"/>
            <a:ext cx="14101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7418784" y="4262437"/>
            <a:ext cx="42017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571500" y="4676775"/>
            <a:ext cx="23986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2970162" y="4676775"/>
            <a:ext cx="3038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6008637" y="4676775"/>
            <a:ext cx="14101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7418784" y="4676775"/>
            <a:ext cx="42017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571500" y="5091112"/>
            <a:ext cx="23986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2970162" y="5091112"/>
            <a:ext cx="30384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6008637" y="5091112"/>
            <a:ext cx="14101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7418784" y="5091112"/>
            <a:ext cx="42017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786312"/>
            <a:ext cx="11049000" cy="128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571500" y="55245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7. Análise da Revocação e Risco Residual</a:t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809625" y="5157787"/>
            <a:ext cx="106203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 </a:t>
            </a: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Naive Bayes (Bernoulli)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falhou severamente (108 FN), provando que a suposição de independência entre variáveis binárias é inadequada para capturar padrões tóxicos complexos.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571500" y="1628775"/>
            <a:ext cx="5334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Métricas focadas na </a:t>
            </a: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Classe Venenosa (Positiva)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/>
          </a:p>
        </p:txBody>
      </p:sp>
      <p:graphicFrame>
        <p:nvGraphicFramePr>
          <p:cNvPr id="241" name="Google Shape;241;p20"/>
          <p:cNvGraphicFramePr/>
          <p:nvPr/>
        </p:nvGraphicFramePr>
        <p:xfrm>
          <a:off x="571500" y="20812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{2AABB580-84F7-48E4-A895-6EC5075D30F3}</a:tableStyleId>
              </a:tblPr>
              <a:tblGrid>
                <a:gridCol w="4852075"/>
                <a:gridCol w="2884925"/>
                <a:gridCol w="3121525"/>
              </a:tblGrid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Algoritmo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Revocação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F. Negativos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KNN (K=5)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99,74%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Naive Bayes (Ber)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86,21%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Árvore Decisão (d=8)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100,00%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Random Forest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99,74%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SVM (Sigmoid)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97,96%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2" name="Google Shape;242;p20"/>
          <p:cNvSpPr/>
          <p:nvPr/>
        </p:nvSpPr>
        <p:spPr>
          <a:xfrm>
            <a:off x="571500" y="2924175"/>
            <a:ext cx="23834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2954982" y="2924175"/>
            <a:ext cx="14171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4372123" y="2924175"/>
            <a:ext cx="15333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571500" y="3338512"/>
            <a:ext cx="23834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2954982" y="3338512"/>
            <a:ext cx="14171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4372123" y="3338512"/>
            <a:ext cx="15333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571500" y="3752850"/>
            <a:ext cx="23834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2954982" y="3752850"/>
            <a:ext cx="14171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4372123" y="3752850"/>
            <a:ext cx="15333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571500" y="4167187"/>
            <a:ext cx="23834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2954982" y="4167187"/>
            <a:ext cx="14171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4372123" y="4167187"/>
            <a:ext cx="15333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571500" y="4581525"/>
            <a:ext cx="23834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2954982" y="4581525"/>
            <a:ext cx="14171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4372123" y="4581525"/>
            <a:ext cx="15333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47800"/>
            <a:ext cx="5334000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447800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571500" y="55245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8. A Escolha da Árvore de Decisão (d=8)</a:t>
            </a:r>
            <a:endParaRPr/>
          </a:p>
        </p:txBody>
      </p:sp>
      <p:sp>
        <p:nvSpPr>
          <p:cNvPr id="265" name="Google Shape;265;p21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571500" y="2743200"/>
            <a:ext cx="5334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Princípio da Parcimônia (Navalha de Ockham):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6286500" y="5162550"/>
            <a:ext cx="533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profundidade 8 foi exata para isolar as exceções morfológicas sem gerar </a:t>
            </a:r>
            <a:r>
              <a:rPr b="1" i="0" lang="en-US" sz="120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Overfitting</a:t>
            </a: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762000" y="1638300"/>
            <a:ext cx="4953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Recall: 1,0000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762000" y="21336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± 0,0000 em Validação Cruzada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857250" y="3195637"/>
            <a:ext cx="50482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Entre modelos de performance idêntica (RF e MLP), a Árvore de Decisão é a mais simples.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857250" y="3852862"/>
            <a:ext cx="50482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Transparência: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Rejeita o obscurantismo das "caixas-pretas".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857250" y="4510087"/>
            <a:ext cx="504825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Custo: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Fração do custo computacional de redes profundas.</a:t>
            </a:r>
            <a:endParaRPr/>
          </a:p>
        </p:txBody>
      </p:sp>
      <p:pic>
        <p:nvPicPr>
          <p:cNvPr descr="image.png" id="273" name="Google Shape;27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95637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52862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510087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86500" y="1790688"/>
            <a:ext cx="5334001" cy="30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71712"/>
            <a:ext cx="11049000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57712"/>
            <a:ext cx="11049000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71762"/>
            <a:ext cx="11049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71812"/>
            <a:ext cx="11049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71862"/>
            <a:ext cx="11049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71912"/>
            <a:ext cx="11049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81375" y="2671762"/>
            <a:ext cx="823912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81375" y="3071812"/>
            <a:ext cx="823912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81375" y="3471862"/>
            <a:ext cx="823912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81375" y="3871912"/>
            <a:ext cx="823912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81375" y="2671762"/>
            <a:ext cx="1750814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81375" y="3071812"/>
            <a:ext cx="923478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81375" y="3471862"/>
            <a:ext cx="248691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381375" y="3871912"/>
            <a:ext cx="176212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571500" y="55245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9. Vetores de Decisão e Explicabilidade</a:t>
            </a:r>
            <a:endParaRPr/>
          </a:p>
        </p:txBody>
      </p:sp>
      <p:sp>
        <p:nvSpPr>
          <p:cNvPr id="297" name="Google Shape;297;p22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"/>
          <p:cNvSpPr txBox="1"/>
          <p:nvPr/>
        </p:nvSpPr>
        <p:spPr>
          <a:xfrm>
            <a:off x="571500" y="1628775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Quantificação do peso matemático das variáveis biológicas (Tabela 3):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809625" y="4929187"/>
            <a:ext cx="106203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 </a:t>
            </a: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Odor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atua como a principal linha de defesa lógica. Onde há ambiguidade olfativa, o modelo recorre à morfologia reprodutiva (cor dos esporos) e física (lamelas).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571500" y="2714625"/>
            <a:ext cx="2667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2º Cor Impressão Esporos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571500" y="3114675"/>
            <a:ext cx="2667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3º Tamanho da Lamela</a:t>
            </a:r>
            <a:endParaRPr/>
          </a:p>
        </p:txBody>
      </p:sp>
      <p:sp>
        <p:nvSpPr>
          <p:cNvPr id="302" name="Google Shape;302;p22"/>
          <p:cNvSpPr txBox="1"/>
          <p:nvPr/>
        </p:nvSpPr>
        <p:spPr>
          <a:xfrm>
            <a:off x="571500" y="3514725"/>
            <a:ext cx="2667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4º Espaçamento Lamela</a:t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571500" y="3914775"/>
            <a:ext cx="2667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5º Formato do Estipe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8" name="Google Shape;30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353050"/>
            <a:ext cx="110490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447800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3"/>
          <p:cNvSpPr txBox="1"/>
          <p:nvPr/>
        </p:nvSpPr>
        <p:spPr>
          <a:xfrm>
            <a:off x="571500" y="55245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10. Conclusões e Segurança Biológica</a:t>
            </a:r>
            <a:endParaRPr/>
          </a:p>
        </p:txBody>
      </p:sp>
      <p:sp>
        <p:nvSpPr>
          <p:cNvPr id="312" name="Google Shape;312;p23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3"/>
          <p:cNvSpPr txBox="1"/>
          <p:nvPr/>
        </p:nvSpPr>
        <p:spPr>
          <a:xfrm>
            <a:off x="762000" y="5543550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IA na Micologia: Risco de letalidade mitigado quase na totalidade.</a:t>
            </a:r>
            <a:endParaRPr/>
          </a:p>
        </p:txBody>
      </p:sp>
      <p:pic>
        <p:nvPicPr>
          <p:cNvPr descr="image.png" id="314" name="Google Shape;31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457325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3"/>
          <p:cNvSpPr txBox="1"/>
          <p:nvPr/>
        </p:nvSpPr>
        <p:spPr>
          <a:xfrm>
            <a:off x="857250" y="1600200"/>
            <a:ext cx="50482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Eficácia: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As características morfológicas catalogadas possuem padrão informacional forte o suficiente para mitigar o risco humano.</a:t>
            </a:r>
            <a:endParaRPr/>
          </a:p>
        </p:txBody>
      </p:sp>
      <p:sp>
        <p:nvSpPr>
          <p:cNvPr id="316" name="Google Shape;316;p23"/>
          <p:cNvSpPr txBox="1"/>
          <p:nvPr/>
        </p:nvSpPr>
        <p:spPr>
          <a:xfrm>
            <a:off x="857250" y="2528887"/>
            <a:ext cx="50482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Métrica Soberana: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Em saúde e segurança, a Revocação absoluta é o único critério de sucesso aceitável.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857250" y="3186112"/>
            <a:ext cx="50482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Inovação: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 modelo supera o estado da arte ao priorizar a contenção de risco (Recall 100%) em vez da acurácia global.</a:t>
            </a:r>
            <a:endParaRPr/>
          </a:p>
        </p:txBody>
      </p:sp>
      <p:pic>
        <p:nvPicPr>
          <p:cNvPr descr="image.png" id="318" name="Google Shape;31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600200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528887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86112"/>
            <a:ext cx="16192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366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4"/>
          <p:cNvSpPr txBox="1"/>
          <p:nvPr/>
        </p:nvSpPr>
        <p:spPr>
          <a:xfrm>
            <a:off x="295275" y="1407318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Dúvidas?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571500" y="2540793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Obrigado pela atenção!</a:t>
            </a:r>
            <a:endParaRPr/>
          </a:p>
        </p:txBody>
      </p:sp>
      <p:sp>
        <p:nvSpPr>
          <p:cNvPr id="327" name="Google Shape;327;p24"/>
          <p:cNvSpPr/>
          <p:nvPr/>
        </p:nvSpPr>
        <p:spPr>
          <a:xfrm>
            <a:off x="5857875" y="3493293"/>
            <a:ext cx="47625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4"/>
          <p:cNvSpPr txBox="1"/>
          <p:nvPr/>
        </p:nvSpPr>
        <p:spPr>
          <a:xfrm>
            <a:off x="571500" y="4093368"/>
            <a:ext cx="11049000" cy="21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Kauã Alves Santos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29" name="Google Shape;329;p24"/>
          <p:cNvSpPr txBox="1"/>
          <p:nvPr/>
        </p:nvSpPr>
        <p:spPr>
          <a:xfrm>
            <a:off x="571500" y="4545806"/>
            <a:ext cx="11049000" cy="21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Mateus Vinicius Z. Pinto:r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30" name="Google Shape;330;p24"/>
          <p:cNvSpPr txBox="1"/>
          <p:nvPr/>
        </p:nvSpPr>
        <p:spPr>
          <a:xfrm>
            <a:off x="571500" y="4998243"/>
            <a:ext cx="11049000" cy="21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github.com/mateuszebendo/tecnicas-de-machine-learning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31" name="Google Shape;331;p24"/>
          <p:cNvSpPr txBox="1"/>
          <p:nvPr/>
        </p:nvSpPr>
        <p:spPr>
          <a:xfrm>
            <a:off x="9799850" y="2392150"/>
            <a:ext cx="2412000" cy="67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